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16"/>
  </p:notesMasterIdLst>
  <p:sldIdLst>
    <p:sldId id="256" r:id="rId2"/>
    <p:sldId id="714" r:id="rId3"/>
    <p:sldId id="674" r:id="rId4"/>
    <p:sldId id="713" r:id="rId5"/>
    <p:sldId id="717" r:id="rId6"/>
    <p:sldId id="718" r:id="rId7"/>
    <p:sldId id="711" r:id="rId8"/>
    <p:sldId id="715" r:id="rId9"/>
    <p:sldId id="716" r:id="rId10"/>
    <p:sldId id="719" r:id="rId11"/>
    <p:sldId id="720" r:id="rId12"/>
    <p:sldId id="722" r:id="rId13"/>
    <p:sldId id="721" r:id="rId14"/>
    <p:sldId id="303"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F50"/>
    <a:srgbClr val="8497B0"/>
    <a:srgbClr val="8FAADC"/>
    <a:srgbClr val="2F5597"/>
    <a:srgbClr val="626CC7"/>
    <a:srgbClr val="323B8D"/>
    <a:srgbClr val="21275D"/>
    <a:srgbClr val="161A3E"/>
    <a:srgbClr val="203864"/>
    <a:srgbClr val="8BB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371" autoAdjust="0"/>
    <p:restoredTop sz="94364" autoAdjust="0"/>
  </p:normalViewPr>
  <p:slideViewPr>
    <p:cSldViewPr snapToGrid="0">
      <p:cViewPr varScale="1">
        <p:scale>
          <a:sx n="73" d="100"/>
          <a:sy n="73" d="100"/>
        </p:scale>
        <p:origin x="522" y="7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27-01-2026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7FFB008-8E38-46F5-BCB9-8CFEF233CF3A}" type="slidenum">
              <a:rPr lang="en-IN" smtClean="0"/>
              <a:t>4</a:t>
            </a:fld>
            <a:endParaRPr lang="en-IN" dirty="0"/>
          </a:p>
        </p:txBody>
      </p:sp>
    </p:spTree>
    <p:extLst>
      <p:ext uri="{BB962C8B-B14F-4D97-AF65-F5344CB8AC3E}">
        <p14:creationId xmlns:p14="http://schemas.microsoft.com/office/powerpoint/2010/main" val="31656507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ecommerceappuctdeliveryprediction-ijgvdngnfhypbqztk77clv.streamlit.app/"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1" y="2788290"/>
            <a:ext cx="12192000"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200" b="1" dirty="0" smtClean="0">
                <a:latin typeface="Calibri" panose="020F0502020204030204" pitchFamily="34" charset="0"/>
              </a:rPr>
              <a:t>E Commerce Product Delivery Prediction</a:t>
            </a:r>
          </a:p>
        </p:txBody>
      </p:sp>
    </p:spTree>
    <p:extLst>
      <p:ext uri="{BB962C8B-B14F-4D97-AF65-F5344CB8AC3E}">
        <p14:creationId xmlns:p14="http://schemas.microsoft.com/office/powerpoint/2010/main" val="10243347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a:xfrm>
            <a:off x="651175" y="451267"/>
            <a:ext cx="10834234" cy="612775"/>
          </a:xfrm>
        </p:spPr>
        <p:txBody>
          <a:bodyPr/>
          <a:lstStyle/>
          <a:p>
            <a:r>
              <a:rPr lang="en-US" dirty="0" smtClean="0"/>
              <a:t>Agenda</a:t>
            </a:r>
            <a:endParaRPr lang="en-IN" dirty="0"/>
          </a:p>
        </p:txBody>
      </p:sp>
      <p:sp>
        <p:nvSpPr>
          <p:cNvPr id="4" name="Content Placeholder 3"/>
          <p:cNvSpPr>
            <a:spLocks noGrp="1"/>
          </p:cNvSpPr>
          <p:nvPr>
            <p:ph idx="1"/>
          </p:nvPr>
        </p:nvSpPr>
        <p:spPr>
          <a:xfrm>
            <a:off x="1025247" y="1633511"/>
            <a:ext cx="10834234" cy="4398066"/>
          </a:xfrm>
        </p:spPr>
        <p:txBody>
          <a:bodyPr>
            <a:normAutofit/>
          </a:bodyPr>
          <a:lstStyle/>
          <a:p>
            <a:pPr>
              <a:buFont typeface="Wingdings" panose="05000000000000000000" pitchFamily="2" charset="2"/>
              <a:buChar char="Ø"/>
            </a:pPr>
            <a:r>
              <a:rPr lang="en-US" sz="2400" dirty="0" smtClean="0"/>
              <a:t> Problem Statement </a:t>
            </a:r>
          </a:p>
          <a:p>
            <a:pPr>
              <a:buFont typeface="Wingdings" panose="05000000000000000000" pitchFamily="2" charset="2"/>
              <a:buChar char="Ø"/>
            </a:pPr>
            <a:r>
              <a:rPr lang="en-US" sz="2400" dirty="0" smtClean="0"/>
              <a:t> Dataset Overview </a:t>
            </a:r>
          </a:p>
          <a:p>
            <a:pPr>
              <a:buFont typeface="Wingdings" panose="05000000000000000000" pitchFamily="2" charset="2"/>
              <a:buChar char="Ø"/>
            </a:pPr>
            <a:r>
              <a:rPr lang="en-US" sz="2400" dirty="0" smtClean="0"/>
              <a:t> Methodology </a:t>
            </a:r>
          </a:p>
          <a:p>
            <a:pPr>
              <a:buFont typeface="Wingdings" panose="05000000000000000000" pitchFamily="2" charset="2"/>
              <a:buChar char="Ø"/>
            </a:pPr>
            <a:r>
              <a:rPr lang="en-US" sz="2400" dirty="0" smtClean="0"/>
              <a:t> Exploratory Data Analysis &amp; Preprocessing </a:t>
            </a:r>
          </a:p>
          <a:p>
            <a:pPr>
              <a:buFont typeface="Wingdings" panose="05000000000000000000" pitchFamily="2" charset="2"/>
              <a:buChar char="Ø"/>
            </a:pPr>
            <a:r>
              <a:rPr lang="en-US" sz="2400" dirty="0" smtClean="0"/>
              <a:t> Predictive Model and Evaluation Metrics</a:t>
            </a:r>
          </a:p>
          <a:p>
            <a:pPr>
              <a:buFont typeface="Wingdings" panose="05000000000000000000" pitchFamily="2" charset="2"/>
              <a:buChar char="Ø"/>
            </a:pPr>
            <a:r>
              <a:rPr lang="en-US" sz="2400" dirty="0"/>
              <a:t> </a:t>
            </a:r>
            <a:r>
              <a:rPr lang="en-US" sz="2400" dirty="0" smtClean="0"/>
              <a:t>Dashboard Visualization</a:t>
            </a:r>
          </a:p>
          <a:p>
            <a:pPr>
              <a:buFont typeface="Wingdings" panose="05000000000000000000" pitchFamily="2" charset="2"/>
              <a:buChar char="Ø"/>
            </a:pPr>
            <a:r>
              <a:rPr lang="en-US" sz="2400" dirty="0" smtClean="0"/>
              <a:t> Deployment </a:t>
            </a:r>
          </a:p>
          <a:p>
            <a:pPr>
              <a:buFont typeface="Wingdings" panose="05000000000000000000" pitchFamily="2" charset="2"/>
              <a:buChar char="Ø"/>
            </a:pPr>
            <a:r>
              <a:rPr lang="en-US" sz="2400" dirty="0" smtClean="0"/>
              <a:t> Conclusion </a:t>
            </a:r>
          </a:p>
          <a:p>
            <a:pPr>
              <a:buFont typeface="Wingdings" panose="05000000000000000000" pitchFamily="2" charset="2"/>
              <a:buChar char="Ø"/>
            </a:pPr>
            <a:r>
              <a:rPr lang="en-US" sz="2400" dirty="0" smtClean="0"/>
              <a:t> Thank You</a:t>
            </a:r>
            <a:endParaRPr lang="en-IN" sz="2400" dirty="0"/>
          </a:p>
        </p:txBody>
      </p:sp>
    </p:spTree>
    <p:extLst>
      <p:ext uri="{BB962C8B-B14F-4D97-AF65-F5344CB8AC3E}">
        <p14:creationId xmlns:p14="http://schemas.microsoft.com/office/powerpoint/2010/main" val="19538045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4" y="728356"/>
            <a:ext cx="10834234" cy="612775"/>
          </a:xfrm>
        </p:spPr>
        <p:txBody>
          <a:bodyPr>
            <a:noAutofit/>
          </a:bodyPr>
          <a:lstStyle/>
          <a:p>
            <a:r>
              <a:rPr lang="en-US" sz="3600" dirty="0"/>
              <a:t>Problem Statement </a:t>
            </a:r>
            <a:br>
              <a:rPr lang="en-US" sz="3600" dirty="0"/>
            </a:br>
            <a:endParaRPr lang="en-IN" sz="3600" dirty="0"/>
          </a:p>
        </p:txBody>
      </p:sp>
      <p:sp>
        <p:nvSpPr>
          <p:cNvPr id="6" name="Content Placeholder 5"/>
          <p:cNvSpPr>
            <a:spLocks noGrp="1"/>
          </p:cNvSpPr>
          <p:nvPr>
            <p:ph idx="1"/>
          </p:nvPr>
        </p:nvSpPr>
        <p:spPr>
          <a:xfrm>
            <a:off x="678884" y="1675075"/>
            <a:ext cx="10834234" cy="4398066"/>
          </a:xfrm>
        </p:spPr>
        <p:txBody>
          <a:bodyPr>
            <a:noAutofit/>
          </a:bodyPr>
          <a:lstStyle/>
          <a:p>
            <a:r>
              <a:rPr lang="en-US" sz="2400" dirty="0" smtClean="0"/>
              <a:t>The goal of this project is to predict whether a product will be delivered on time (Yes, or No) using historical data and relevant features.</a:t>
            </a:r>
          </a:p>
          <a:p>
            <a:r>
              <a:rPr lang="en-US" sz="2400" dirty="0" smtClean="0"/>
              <a:t>This is the binary classification problem.</a:t>
            </a:r>
          </a:p>
          <a:p>
            <a:r>
              <a:rPr lang="en-US" sz="2400" dirty="0" smtClean="0"/>
              <a:t>We want to identify the factor that influence on time delivery and provide actionable insights for improving delivery reliability. The way it’s straight forward and to the point</a:t>
            </a:r>
            <a:endParaRPr lang="en-IN" sz="2400" dirty="0"/>
          </a:p>
        </p:txBody>
      </p:sp>
    </p:spTree>
    <p:extLst>
      <p:ext uri="{BB962C8B-B14F-4D97-AF65-F5344CB8AC3E}">
        <p14:creationId xmlns:p14="http://schemas.microsoft.com/office/powerpoint/2010/main" val="227245946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69DB3DB-2D6A-4800-21E5-71369CC117F1}"/>
              </a:ext>
            </a:extLst>
          </p:cNvPr>
          <p:cNvSpPr>
            <a:spLocks noGrp="1"/>
          </p:cNvSpPr>
          <p:nvPr>
            <p:ph type="title"/>
          </p:nvPr>
        </p:nvSpPr>
        <p:spPr>
          <a:xfrm>
            <a:off x="678881" y="520537"/>
            <a:ext cx="5107239" cy="612775"/>
          </a:xfrm>
        </p:spPr>
        <p:txBody>
          <a:bodyPr/>
          <a:lstStyle/>
          <a:p>
            <a:r>
              <a:rPr lang="en-US" sz="3600" dirty="0" smtClean="0"/>
              <a:t>Dataset Overview</a:t>
            </a:r>
            <a:endParaRPr lang="en-IN" dirty="0"/>
          </a:p>
        </p:txBody>
      </p:sp>
      <p:sp>
        <p:nvSpPr>
          <p:cNvPr id="5" name="Content Placeholder 4"/>
          <p:cNvSpPr>
            <a:spLocks noGrp="1"/>
          </p:cNvSpPr>
          <p:nvPr>
            <p:ph idx="1"/>
          </p:nvPr>
        </p:nvSpPr>
        <p:spPr/>
        <p:txBody>
          <a:bodyPr>
            <a:normAutofit/>
          </a:bodyPr>
          <a:lstStyle/>
          <a:p>
            <a:r>
              <a:rPr lang="en-US" sz="2400" dirty="0" smtClean="0"/>
              <a:t>I’m working with a dataset of around </a:t>
            </a:r>
            <a:r>
              <a:rPr lang="en-US" sz="2400" b="1" dirty="0" smtClean="0"/>
              <a:t>11,000 rows </a:t>
            </a:r>
            <a:r>
              <a:rPr lang="en-US" sz="2400" dirty="0" smtClean="0"/>
              <a:t>and </a:t>
            </a:r>
            <a:r>
              <a:rPr lang="en-US" sz="2400" b="1" dirty="0" smtClean="0"/>
              <a:t>12 columns</a:t>
            </a:r>
            <a:r>
              <a:rPr lang="en-US" sz="2400" dirty="0" smtClean="0"/>
              <a:t>, which include important features such as the </a:t>
            </a:r>
            <a:r>
              <a:rPr lang="en-US" sz="2400" b="1" dirty="0" err="1" smtClean="0"/>
              <a:t>Mode_of</a:t>
            </a:r>
            <a:r>
              <a:rPr lang="en-US" sz="2400" b="1" dirty="0" smtClean="0"/>
              <a:t> _shipment, product_ importance</a:t>
            </a:r>
            <a:r>
              <a:rPr lang="en-US" sz="2400" dirty="0" smtClean="0"/>
              <a:t>, </a:t>
            </a:r>
            <a:r>
              <a:rPr lang="en-US" sz="2400" b="1" dirty="0" err="1" smtClean="0"/>
              <a:t>customer_rating</a:t>
            </a:r>
            <a:r>
              <a:rPr lang="en-US" sz="2400" dirty="0" smtClean="0"/>
              <a:t>, and </a:t>
            </a:r>
            <a:r>
              <a:rPr lang="en-US" sz="2400" b="1" dirty="0" err="1" smtClean="0"/>
              <a:t>cost_of_product</a:t>
            </a:r>
            <a:r>
              <a:rPr lang="en-US" sz="2400" dirty="0" smtClean="0"/>
              <a:t>.</a:t>
            </a:r>
          </a:p>
          <a:p>
            <a:r>
              <a:rPr lang="en-US" sz="2400" dirty="0" smtClean="0"/>
              <a:t>The comprehensive dataset serve as the foundation for my analysis and modeling, allowing us to uncover insights and predict on-time delivery effectively.</a:t>
            </a:r>
            <a:endParaRPr lang="en-IN" sz="2400"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01678" y="520537"/>
            <a:ext cx="6090322" cy="3206336"/>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Tree>
    <p:extLst>
      <p:ext uri="{BB962C8B-B14F-4D97-AF65-F5344CB8AC3E}">
        <p14:creationId xmlns:p14="http://schemas.microsoft.com/office/powerpoint/2010/main" val="13444202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 Methodology</a:t>
            </a:r>
            <a:endParaRPr lang="en-IN" dirty="0"/>
          </a:p>
        </p:txBody>
      </p:sp>
      <p:sp>
        <p:nvSpPr>
          <p:cNvPr id="3" name="Content Placeholder 2"/>
          <p:cNvSpPr>
            <a:spLocks noGrp="1"/>
          </p:cNvSpPr>
          <p:nvPr>
            <p:ph idx="1"/>
          </p:nvPr>
        </p:nvSpPr>
        <p:spPr/>
        <p:txBody>
          <a:bodyPr>
            <a:normAutofit/>
          </a:bodyPr>
          <a:lstStyle/>
          <a:p>
            <a:r>
              <a:rPr lang="en-US" sz="2400" dirty="0" smtClean="0"/>
              <a:t>In methodology</a:t>
            </a:r>
            <a:r>
              <a:rPr lang="en-US" sz="2400" dirty="0"/>
              <a:t>, I followed a structured approach.</a:t>
            </a:r>
          </a:p>
          <a:p>
            <a:r>
              <a:rPr lang="en-US" sz="2400" dirty="0"/>
              <a:t>I began by </a:t>
            </a:r>
            <a:r>
              <a:rPr lang="en-US" sz="2400" b="1" dirty="0"/>
              <a:t>cleaning</a:t>
            </a:r>
            <a:r>
              <a:rPr lang="en-US" sz="2400" dirty="0"/>
              <a:t> the raw data to ensure accuracy and consistency. After that, I conducted </a:t>
            </a:r>
            <a:r>
              <a:rPr lang="en-US" sz="2400" b="1" dirty="0"/>
              <a:t>Exploratory Data Analysis </a:t>
            </a:r>
            <a:r>
              <a:rPr lang="en-US" sz="2400" dirty="0"/>
              <a:t>(</a:t>
            </a:r>
            <a:r>
              <a:rPr lang="en-US" sz="2400" b="1" dirty="0"/>
              <a:t>EDA</a:t>
            </a:r>
            <a:r>
              <a:rPr lang="en-US" sz="2400" dirty="0"/>
              <a:t>) to identify patterns and insights.</a:t>
            </a:r>
          </a:p>
          <a:p>
            <a:r>
              <a:rPr lang="en-US" sz="2400" dirty="0"/>
              <a:t>Next I performed </a:t>
            </a:r>
            <a:r>
              <a:rPr lang="en-US" sz="2400" b="1" dirty="0"/>
              <a:t>Data Preprocessing </a:t>
            </a:r>
            <a:r>
              <a:rPr lang="en-US" sz="2400" dirty="0"/>
              <a:t>to prepare the dataset for modeling. </a:t>
            </a:r>
          </a:p>
          <a:p>
            <a:r>
              <a:rPr lang="en-US" sz="2400" dirty="0"/>
              <a:t>Then I applied a </a:t>
            </a:r>
            <a:r>
              <a:rPr lang="en-US" sz="2400" b="1" dirty="0"/>
              <a:t>Logistic Regression </a:t>
            </a:r>
            <a:r>
              <a:rPr lang="en-US" sz="2400" dirty="0"/>
              <a:t>to </a:t>
            </a:r>
            <a:r>
              <a:rPr lang="en-US" sz="2400" b="1" dirty="0"/>
              <a:t>predict On-Time Delivery </a:t>
            </a:r>
            <a:r>
              <a:rPr lang="en-US" sz="2400" dirty="0"/>
              <a:t>and</a:t>
            </a:r>
            <a:r>
              <a:rPr lang="en-US" sz="2400" b="1" dirty="0"/>
              <a:t> evaluate </a:t>
            </a:r>
            <a:r>
              <a:rPr lang="en-US" sz="2400" dirty="0"/>
              <a:t>the</a:t>
            </a:r>
            <a:r>
              <a:rPr lang="en-US" sz="2400" b="1" dirty="0"/>
              <a:t> </a:t>
            </a:r>
            <a:r>
              <a:rPr lang="en-US" sz="2400" b="1" dirty="0" smtClean="0"/>
              <a:t>model’s </a:t>
            </a:r>
            <a:r>
              <a:rPr lang="en-US" sz="2400" dirty="0" smtClean="0"/>
              <a:t>Performance </a:t>
            </a:r>
            <a:r>
              <a:rPr lang="en-US" sz="2400" dirty="0"/>
              <a:t>using </a:t>
            </a:r>
            <a:r>
              <a:rPr lang="en-US" sz="2400" b="1" dirty="0"/>
              <a:t>standard metrics</a:t>
            </a:r>
            <a:r>
              <a:rPr lang="en-US" sz="2400" dirty="0"/>
              <a:t>.</a:t>
            </a:r>
          </a:p>
          <a:p>
            <a:r>
              <a:rPr lang="en-US" sz="2400" dirty="0" smtClean="0"/>
              <a:t>Then </a:t>
            </a:r>
            <a:r>
              <a:rPr lang="en-US" sz="2400" dirty="0"/>
              <a:t>I created </a:t>
            </a:r>
            <a:r>
              <a:rPr lang="en-US" sz="2400" b="1" dirty="0"/>
              <a:t>Dashboard Visualization </a:t>
            </a:r>
            <a:r>
              <a:rPr lang="en-US" sz="2400" dirty="0"/>
              <a:t>to present my finding </a:t>
            </a:r>
            <a:r>
              <a:rPr lang="en-US" sz="2400" dirty="0" smtClean="0"/>
              <a:t>clearly.</a:t>
            </a:r>
          </a:p>
          <a:p>
            <a:r>
              <a:rPr lang="en-US" sz="2400" dirty="0" smtClean="0"/>
              <a:t>Finally, I deployed the app using </a:t>
            </a:r>
            <a:r>
              <a:rPr lang="en-US" sz="2400" b="1" dirty="0" err="1" smtClean="0"/>
              <a:t>Streamlit</a:t>
            </a:r>
            <a:r>
              <a:rPr lang="en-US" sz="2400" dirty="0" smtClean="0"/>
              <a:t>.</a:t>
            </a:r>
            <a:endParaRPr lang="en-US" sz="2400" dirty="0"/>
          </a:p>
        </p:txBody>
      </p:sp>
    </p:spTree>
    <p:extLst>
      <p:ext uri="{BB962C8B-B14F-4D97-AF65-F5344CB8AC3E}">
        <p14:creationId xmlns:p14="http://schemas.microsoft.com/office/powerpoint/2010/main" val="40402777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 Exploratory Data Analysis (EDA)</a:t>
            </a:r>
            <a:endParaRPr lang="en-IN" sz="3600" dirty="0"/>
          </a:p>
        </p:txBody>
      </p:sp>
      <p:sp>
        <p:nvSpPr>
          <p:cNvPr id="3" name="Content Placeholder 2"/>
          <p:cNvSpPr>
            <a:spLocks noGrp="1"/>
          </p:cNvSpPr>
          <p:nvPr>
            <p:ph idx="1"/>
          </p:nvPr>
        </p:nvSpPr>
        <p:spPr/>
        <p:txBody>
          <a:bodyPr vert="horz">
            <a:normAutofit lnSpcReduction="10000"/>
          </a:bodyPr>
          <a:lstStyle/>
          <a:p>
            <a:pPr fontAlgn="ctr"/>
            <a:r>
              <a:rPr lang="en-US" dirty="0"/>
              <a:t>In Exploratory Data Analysis, I started by using </a:t>
            </a:r>
            <a:r>
              <a:rPr lang="en-US" b="1" dirty="0"/>
              <a:t>info() </a:t>
            </a:r>
            <a:r>
              <a:rPr lang="en-US" dirty="0"/>
              <a:t>and </a:t>
            </a:r>
            <a:r>
              <a:rPr lang="en-US" b="1" dirty="0"/>
              <a:t>describe() </a:t>
            </a:r>
            <a:r>
              <a:rPr lang="en-US" dirty="0"/>
              <a:t>to get a summary of the dataset and understand </a:t>
            </a:r>
            <a:r>
              <a:rPr lang="en-US" dirty="0" smtClean="0"/>
              <a:t>it’s </a:t>
            </a:r>
            <a:r>
              <a:rPr lang="en-US" dirty="0"/>
              <a:t>structure.</a:t>
            </a:r>
            <a:endParaRPr lang="en-IN" dirty="0"/>
          </a:p>
          <a:p>
            <a:pPr fontAlgn="ctr"/>
            <a:r>
              <a:rPr lang="en-US" dirty="0"/>
              <a:t>I </a:t>
            </a:r>
            <a:r>
              <a:rPr lang="en-US" dirty="0" smtClean="0"/>
              <a:t>analyze </a:t>
            </a:r>
            <a:r>
              <a:rPr lang="en-US" dirty="0"/>
              <a:t>the shape of the data and used </a:t>
            </a:r>
            <a:r>
              <a:rPr lang="en-US" b="1" dirty="0"/>
              <a:t>value </a:t>
            </a:r>
            <a:r>
              <a:rPr lang="en-US" b="1" dirty="0" smtClean="0"/>
              <a:t>counts, sup title </a:t>
            </a:r>
            <a:r>
              <a:rPr lang="en-US" dirty="0"/>
              <a:t>and </a:t>
            </a:r>
            <a:r>
              <a:rPr lang="en-US" b="1" dirty="0"/>
              <a:t>count plots </a:t>
            </a:r>
            <a:r>
              <a:rPr lang="en-US" dirty="0"/>
              <a:t>to visualize the distribution of the target variable and other categorical features.</a:t>
            </a:r>
            <a:endParaRPr lang="en-IN" dirty="0"/>
          </a:p>
          <a:p>
            <a:pPr fontAlgn="ctr"/>
            <a:r>
              <a:rPr lang="en-US" dirty="0"/>
              <a:t>I </a:t>
            </a:r>
            <a:r>
              <a:rPr lang="en-US" dirty="0" smtClean="0"/>
              <a:t>examine the numerical feature distributions to identify skewness and performed correlation analysis to identify features that may influence delivery performance.</a:t>
            </a:r>
            <a:endParaRPr lang="en-IN" dirty="0"/>
          </a:p>
          <a:p>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46720" y="457214"/>
            <a:ext cx="4145280" cy="4193163"/>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66457343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600" dirty="0"/>
              <a:t>Preprocessing </a:t>
            </a:r>
            <a:br>
              <a:rPr lang="en-US" sz="3600" dirty="0"/>
            </a:br>
            <a:endParaRPr lang="en-IN" sz="3200" dirty="0"/>
          </a:p>
        </p:txBody>
      </p:sp>
      <p:sp>
        <p:nvSpPr>
          <p:cNvPr id="6" name="Content Placeholder 5"/>
          <p:cNvSpPr>
            <a:spLocks noGrp="1"/>
          </p:cNvSpPr>
          <p:nvPr>
            <p:ph idx="1"/>
          </p:nvPr>
        </p:nvSpPr>
        <p:spPr>
          <a:xfrm>
            <a:off x="678884" y="1356419"/>
            <a:ext cx="10834234" cy="4656453"/>
          </a:xfrm>
        </p:spPr>
        <p:txBody>
          <a:bodyPr>
            <a:normAutofit fontScale="92500" lnSpcReduction="10000"/>
          </a:bodyPr>
          <a:lstStyle/>
          <a:p>
            <a:pPr>
              <a:lnSpc>
                <a:spcPct val="110000"/>
              </a:lnSpc>
            </a:pPr>
            <a:r>
              <a:rPr lang="en-US" b="1" dirty="0" smtClean="0"/>
              <a:t>Preprocessing Steps:</a:t>
            </a:r>
          </a:p>
          <a:p>
            <a:pPr lvl="1">
              <a:lnSpc>
                <a:spcPct val="110000"/>
              </a:lnSpc>
            </a:pPr>
            <a:r>
              <a:rPr lang="en-US" b="1" dirty="0" smtClean="0"/>
              <a:t>Missing Values Imputation:</a:t>
            </a:r>
            <a:r>
              <a:rPr lang="en-US" dirty="0" smtClean="0"/>
              <a:t> Handled missing data using appropriate imputation strategies to ensure data completeness.</a:t>
            </a:r>
          </a:p>
          <a:p>
            <a:pPr lvl="1">
              <a:lnSpc>
                <a:spcPct val="110000"/>
              </a:lnSpc>
            </a:pPr>
            <a:r>
              <a:rPr lang="en-US" b="1" dirty="0" smtClean="0"/>
              <a:t>Feature Separation:</a:t>
            </a:r>
            <a:r>
              <a:rPr lang="en-US" dirty="0" smtClean="0"/>
              <a:t> Separated the target variable from the input features to prepare for modeling.</a:t>
            </a:r>
          </a:p>
          <a:p>
            <a:pPr lvl="1">
              <a:lnSpc>
                <a:spcPct val="110000"/>
              </a:lnSpc>
            </a:pPr>
            <a:r>
              <a:rPr lang="en-US" b="1" dirty="0" smtClean="0"/>
              <a:t>Categorical Encoding:</a:t>
            </a:r>
            <a:r>
              <a:rPr lang="en-US" dirty="0" smtClean="0"/>
              <a:t> Encoded categorical features using One-Hot-Encoding to convert them into a numerical format.</a:t>
            </a:r>
          </a:p>
          <a:p>
            <a:pPr lvl="1">
              <a:lnSpc>
                <a:spcPct val="110000"/>
              </a:lnSpc>
            </a:pPr>
            <a:r>
              <a:rPr lang="en-US" b="1" dirty="0" smtClean="0"/>
              <a:t>Feature Scaling: </a:t>
            </a:r>
            <a:r>
              <a:rPr lang="en-US" dirty="0" smtClean="0"/>
              <a:t>Applied standard scaling to numerical features to ensure they’re on a consistent scale.</a:t>
            </a:r>
          </a:p>
          <a:p>
            <a:pPr lvl="1">
              <a:lnSpc>
                <a:spcPct val="110000"/>
              </a:lnSpc>
            </a:pPr>
            <a:r>
              <a:rPr lang="en-US" b="1" dirty="0" smtClean="0"/>
              <a:t>Outlier Treatment: </a:t>
            </a:r>
            <a:r>
              <a:rPr lang="en-US" dirty="0" smtClean="0"/>
              <a:t>Identified and managed outliers to maintain data integrity.</a:t>
            </a:r>
          </a:p>
          <a:p>
            <a:pPr lvl="1">
              <a:lnSpc>
                <a:spcPct val="110000"/>
              </a:lnSpc>
            </a:pPr>
            <a:r>
              <a:rPr lang="en-US" b="1" dirty="0" smtClean="0"/>
              <a:t>Train-Test Split: </a:t>
            </a:r>
            <a:r>
              <a:rPr lang="en-US" dirty="0" smtClean="0"/>
              <a:t>Performed a stratified train-test split to preserve the class distribution in both sets.</a:t>
            </a:r>
          </a:p>
        </p:txBody>
      </p:sp>
    </p:spTree>
    <p:extLst>
      <p:ext uri="{BB962C8B-B14F-4D97-AF65-F5344CB8AC3E}">
        <p14:creationId xmlns:p14="http://schemas.microsoft.com/office/powerpoint/2010/main" val="117386209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09612" y="423557"/>
            <a:ext cx="10834234" cy="612775"/>
          </a:xfrm>
        </p:spPr>
        <p:txBody>
          <a:bodyPr>
            <a:noAutofit/>
          </a:bodyPr>
          <a:lstStyle/>
          <a:p>
            <a:r>
              <a:rPr lang="en-US" sz="3200" dirty="0" smtClean="0"/>
              <a:t>Predictive Model and Evaluation Metrics</a:t>
            </a:r>
            <a:endParaRPr lang="en-IN" sz="2800" dirty="0"/>
          </a:p>
        </p:txBody>
      </p:sp>
      <p:sp>
        <p:nvSpPr>
          <p:cNvPr id="5" name="Content Placeholder 4"/>
          <p:cNvSpPr>
            <a:spLocks noGrp="1"/>
          </p:cNvSpPr>
          <p:nvPr>
            <p:ph idx="1"/>
          </p:nvPr>
        </p:nvSpPr>
        <p:spPr>
          <a:xfrm>
            <a:off x="1066811" y="1199827"/>
            <a:ext cx="10834234" cy="4951592"/>
          </a:xfrm>
        </p:spPr>
        <p:txBody>
          <a:bodyPr>
            <a:normAutofit fontScale="70000" lnSpcReduction="20000"/>
          </a:bodyPr>
          <a:lstStyle/>
          <a:p>
            <a:pPr>
              <a:lnSpc>
                <a:spcPct val="170000"/>
              </a:lnSpc>
            </a:pPr>
            <a:r>
              <a:rPr lang="en-US" sz="2400" dirty="0" smtClean="0"/>
              <a:t>In this project, a unified preprocessing pipeline is implemented to ensure consistent data transformation during both training and evaluation. Multiple machine learning models are trained including </a:t>
            </a:r>
            <a:r>
              <a:rPr lang="en-US" sz="2400" b="1" dirty="0" smtClean="0"/>
              <a:t>Logistic Regression</a:t>
            </a:r>
            <a:r>
              <a:rPr lang="en-US" sz="2400" dirty="0" smtClean="0"/>
              <a:t>, </a:t>
            </a:r>
            <a:r>
              <a:rPr lang="en-US" sz="2400" b="1" dirty="0" smtClean="0"/>
              <a:t>K-Nearest Neighbors</a:t>
            </a:r>
            <a:r>
              <a:rPr lang="en-US" sz="2400" dirty="0" smtClean="0"/>
              <a:t> (</a:t>
            </a:r>
            <a:r>
              <a:rPr lang="en-US" sz="2400" b="1" dirty="0" smtClean="0"/>
              <a:t>KNN</a:t>
            </a:r>
            <a:r>
              <a:rPr lang="en-US" sz="2400" dirty="0" smtClean="0"/>
              <a:t>), </a:t>
            </a:r>
            <a:r>
              <a:rPr lang="en-US" sz="2400" b="1" dirty="0" smtClean="0"/>
              <a:t>Decision Tree</a:t>
            </a:r>
            <a:r>
              <a:rPr lang="en-US" sz="2400" dirty="0" smtClean="0"/>
              <a:t>, </a:t>
            </a:r>
            <a:r>
              <a:rPr lang="en-US" sz="2400" b="1" dirty="0" smtClean="0"/>
              <a:t>Random Forest</a:t>
            </a:r>
            <a:r>
              <a:rPr lang="en-US" sz="2400" dirty="0" smtClean="0"/>
              <a:t>, </a:t>
            </a:r>
            <a:r>
              <a:rPr lang="en-US" sz="2400" b="1" dirty="0" smtClean="0"/>
              <a:t>Gradient Boosting</a:t>
            </a:r>
            <a:r>
              <a:rPr lang="en-US" sz="2400" dirty="0" smtClean="0"/>
              <a:t>, and </a:t>
            </a:r>
            <a:r>
              <a:rPr lang="en-US" sz="2400" b="1" dirty="0" err="1" smtClean="0"/>
              <a:t>XGBoost</a:t>
            </a:r>
            <a:r>
              <a:rPr lang="en-US" sz="2400" dirty="0" smtClean="0"/>
              <a:t>.</a:t>
            </a:r>
          </a:p>
          <a:p>
            <a:pPr>
              <a:lnSpc>
                <a:spcPct val="170000"/>
              </a:lnSpc>
            </a:pPr>
            <a:r>
              <a:rPr lang="en-US" sz="2400" dirty="0" smtClean="0"/>
              <a:t>Each model is evaluated using standard classification metrics such as </a:t>
            </a:r>
            <a:r>
              <a:rPr lang="en-US" sz="2400" b="1" dirty="0" smtClean="0"/>
              <a:t>Accuracy</a:t>
            </a:r>
            <a:r>
              <a:rPr lang="en-US" sz="2400" dirty="0" smtClean="0"/>
              <a:t>, </a:t>
            </a:r>
            <a:r>
              <a:rPr lang="en-US" sz="2400" b="1" dirty="0" smtClean="0"/>
              <a:t>Confusion Matrix, Classification Report, </a:t>
            </a:r>
            <a:r>
              <a:rPr lang="en-US" sz="2400" dirty="0" smtClean="0"/>
              <a:t>and </a:t>
            </a:r>
            <a:r>
              <a:rPr lang="en-US" sz="2400" b="1" dirty="0" smtClean="0"/>
              <a:t>ROC-AUC score. </a:t>
            </a:r>
            <a:r>
              <a:rPr lang="en-US" sz="2400" dirty="0" smtClean="0"/>
              <a:t>Model performance is further analyzed using , </a:t>
            </a:r>
            <a:r>
              <a:rPr lang="en-US" sz="2400" b="1" dirty="0" smtClean="0"/>
              <a:t>visualizations including Confusion Matrix </a:t>
            </a:r>
            <a:r>
              <a:rPr lang="en-US" sz="2400" b="1" dirty="0" err="1" smtClean="0"/>
              <a:t>Heatmaps</a:t>
            </a:r>
            <a:r>
              <a:rPr lang="en-US" sz="2400" b="1" dirty="0"/>
              <a:t> </a:t>
            </a:r>
            <a:r>
              <a:rPr lang="en-US" sz="2400" dirty="0" smtClean="0"/>
              <a:t>and </a:t>
            </a:r>
            <a:r>
              <a:rPr lang="en-US" sz="2400" b="1" dirty="0" smtClean="0"/>
              <a:t>ROC-AUC Curve, </a:t>
            </a:r>
            <a:r>
              <a:rPr lang="en-US" sz="2400" dirty="0" smtClean="0"/>
              <a:t> to understand prediction quality and class separation.</a:t>
            </a:r>
          </a:p>
          <a:p>
            <a:pPr>
              <a:lnSpc>
                <a:spcPct val="170000"/>
              </a:lnSpc>
            </a:pPr>
            <a:r>
              <a:rPr lang="en-US" sz="2400" dirty="0" smtClean="0"/>
              <a:t>Among all the models, </a:t>
            </a:r>
            <a:r>
              <a:rPr lang="en-US" sz="2400" b="1" dirty="0" smtClean="0"/>
              <a:t>Gradient Boosting </a:t>
            </a:r>
            <a:r>
              <a:rPr lang="en-US" sz="2400" dirty="0" smtClean="0"/>
              <a:t>achieved the best performance with the highest </a:t>
            </a:r>
            <a:r>
              <a:rPr lang="en-US" sz="2400" b="1" dirty="0" smtClean="0"/>
              <a:t>Accuracy </a:t>
            </a:r>
            <a:r>
              <a:rPr lang="en-US" sz="2400" dirty="0" smtClean="0"/>
              <a:t>and </a:t>
            </a:r>
            <a:r>
              <a:rPr lang="en-US" sz="2400" b="1" dirty="0" smtClean="0"/>
              <a:t>ROC-AUC score</a:t>
            </a:r>
            <a:r>
              <a:rPr lang="en-US" sz="2400" dirty="0" smtClean="0"/>
              <a:t>, making it the most reliable model for predicting on-time delivery. Therefor, </a:t>
            </a:r>
            <a:r>
              <a:rPr lang="en-US" sz="2400" b="1" dirty="0" smtClean="0"/>
              <a:t>Gradient Boosting </a:t>
            </a:r>
            <a:r>
              <a:rPr lang="en-US" sz="2400" dirty="0" smtClean="0"/>
              <a:t>was selected as the </a:t>
            </a:r>
            <a:r>
              <a:rPr lang="en-US" sz="2400" b="1" dirty="0"/>
              <a:t>f</a:t>
            </a:r>
            <a:r>
              <a:rPr lang="en-US" sz="2400" b="1" dirty="0" smtClean="0"/>
              <a:t>inal </a:t>
            </a:r>
            <a:r>
              <a:rPr lang="en-US" sz="2400" b="1" dirty="0"/>
              <a:t>b</a:t>
            </a:r>
            <a:r>
              <a:rPr lang="en-US" sz="2400" b="1" dirty="0" smtClean="0"/>
              <a:t>est </a:t>
            </a:r>
            <a:r>
              <a:rPr lang="en-US" sz="2400" b="1" dirty="0"/>
              <a:t>m</a:t>
            </a:r>
            <a:r>
              <a:rPr lang="en-US" sz="2400" b="1" dirty="0" smtClean="0"/>
              <a:t>odel </a:t>
            </a:r>
            <a:r>
              <a:rPr lang="en-US" sz="2400" dirty="0" smtClean="0"/>
              <a:t>and saved for deployment.</a:t>
            </a:r>
          </a:p>
          <a:p>
            <a:pPr>
              <a:lnSpc>
                <a:spcPct val="170000"/>
              </a:lnSpc>
            </a:pPr>
            <a:r>
              <a:rPr lang="en-US" sz="2400" b="1" dirty="0"/>
              <a:t>Feature Importance:</a:t>
            </a:r>
            <a:r>
              <a:rPr lang="en-US" sz="2400" dirty="0"/>
              <a:t> Feature importance was derived from tree-based models to understand key factors influencing on-time delivery performance.</a:t>
            </a:r>
            <a:endParaRPr lang="en-IN" sz="2400" dirty="0"/>
          </a:p>
        </p:txBody>
      </p:sp>
    </p:spTree>
    <p:extLst>
      <p:ext uri="{BB962C8B-B14F-4D97-AF65-F5344CB8AC3E}">
        <p14:creationId xmlns:p14="http://schemas.microsoft.com/office/powerpoint/2010/main" val="151116275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3600" dirty="0"/>
              <a:t> Dashboard Visualization</a:t>
            </a:r>
            <a:br>
              <a:rPr lang="en-US" sz="3600" dirty="0"/>
            </a:br>
            <a:endParaRPr lang="en-IN" dirty="0"/>
          </a:p>
        </p:txBody>
      </p:sp>
      <p:sp>
        <p:nvSpPr>
          <p:cNvPr id="5" name="Content Placeholder 4"/>
          <p:cNvSpPr>
            <a:spLocks noGrp="1"/>
          </p:cNvSpPr>
          <p:nvPr>
            <p:ph idx="1"/>
          </p:nvPr>
        </p:nvSpPr>
        <p:spPr>
          <a:xfrm>
            <a:off x="678884" y="997527"/>
            <a:ext cx="10834234" cy="5070764"/>
          </a:xfrm>
        </p:spPr>
        <p:txBody>
          <a:bodyPr>
            <a:noAutofit/>
          </a:bodyPr>
          <a:lstStyle/>
          <a:p>
            <a:pPr>
              <a:lnSpc>
                <a:spcPct val="100000"/>
              </a:lnSpc>
            </a:pPr>
            <a:r>
              <a:rPr lang="en-US" sz="2100" dirty="0"/>
              <a:t>A Power BI dashboard </a:t>
            </a:r>
            <a:r>
              <a:rPr lang="en-US" sz="2100" dirty="0" smtClean="0"/>
              <a:t>is </a:t>
            </a:r>
            <a:r>
              <a:rPr lang="en-US" sz="2100" dirty="0"/>
              <a:t>developed to provide an interactive view of delivery performance and key operational metrics for the e-commerce product delivery prediction project. The dashboard enables quick monitoring of </a:t>
            </a:r>
            <a:r>
              <a:rPr lang="en-US" sz="2100" b="1" dirty="0"/>
              <a:t>shipment </a:t>
            </a:r>
            <a:r>
              <a:rPr lang="en-US" sz="2100" b="1" dirty="0" smtClean="0"/>
              <a:t>mode</a:t>
            </a:r>
            <a:r>
              <a:rPr lang="en-US" sz="2100" dirty="0" smtClean="0"/>
              <a:t>, </a:t>
            </a:r>
            <a:r>
              <a:rPr lang="en-US" sz="2100" b="1" dirty="0"/>
              <a:t>warehouse</a:t>
            </a:r>
            <a:r>
              <a:rPr lang="en-US" sz="2100" dirty="0"/>
              <a:t> efficiency, </a:t>
            </a:r>
            <a:r>
              <a:rPr lang="en-US" sz="2100" b="1" dirty="0"/>
              <a:t>customer behavior</a:t>
            </a:r>
            <a:r>
              <a:rPr lang="en-US" sz="2100" dirty="0"/>
              <a:t>, </a:t>
            </a:r>
            <a:r>
              <a:rPr lang="en-US" sz="2100" b="1" dirty="0"/>
              <a:t>product importance</a:t>
            </a:r>
            <a:r>
              <a:rPr lang="en-US" sz="2100" dirty="0"/>
              <a:t>, and </a:t>
            </a:r>
            <a:r>
              <a:rPr lang="en-US" sz="2100" b="1" dirty="0"/>
              <a:t>on-time delivery </a:t>
            </a:r>
            <a:r>
              <a:rPr lang="en-US" sz="2100" dirty="0"/>
              <a:t>trends, supporting data-driven decision-making</a:t>
            </a:r>
            <a:r>
              <a:rPr lang="en-US" sz="2100" dirty="0" smtClean="0"/>
              <a:t>.</a:t>
            </a:r>
          </a:p>
          <a:p>
            <a:pPr>
              <a:lnSpc>
                <a:spcPct val="100000"/>
              </a:lnSpc>
            </a:pPr>
            <a:r>
              <a:rPr lang="en-IN" sz="2400" b="1" dirty="0"/>
              <a:t>Key Insights from Dashboard </a:t>
            </a:r>
            <a:endParaRPr lang="en-IN" sz="2400" b="1" dirty="0" smtClean="0"/>
          </a:p>
          <a:p>
            <a:pPr lvl="1">
              <a:lnSpc>
                <a:spcPct val="100000"/>
              </a:lnSpc>
            </a:pPr>
            <a:r>
              <a:rPr lang="en-US" sz="2100" b="1" dirty="0"/>
              <a:t>On-time deliveries exceed late deliveries</a:t>
            </a:r>
            <a:r>
              <a:rPr lang="en-US" sz="2100" dirty="0"/>
              <a:t>, indicating overall strong delivery performance across the network.</a:t>
            </a:r>
          </a:p>
          <a:p>
            <a:pPr lvl="1">
              <a:lnSpc>
                <a:spcPct val="100000"/>
              </a:lnSpc>
            </a:pPr>
            <a:r>
              <a:rPr lang="en-US" sz="2100" b="1" dirty="0"/>
              <a:t>Shipment mode significantly impacts delivery outcomes</a:t>
            </a:r>
            <a:r>
              <a:rPr lang="en-US" sz="2100" dirty="0"/>
              <a:t>; Ship mode handles the highest shipment volume, while Flight and Road contribute smaller but comparable volumes.</a:t>
            </a:r>
          </a:p>
          <a:p>
            <a:pPr lvl="1">
              <a:lnSpc>
                <a:spcPct val="100000"/>
              </a:lnSpc>
            </a:pPr>
            <a:r>
              <a:rPr lang="en-US" sz="2100" b="1" dirty="0"/>
              <a:t>Warehouse F outperforms other warehouses</a:t>
            </a:r>
            <a:r>
              <a:rPr lang="en-US" sz="2100" dirty="0"/>
              <a:t>, showing the highest shipment weight and better on-time delivery contribution.</a:t>
            </a:r>
          </a:p>
          <a:p>
            <a:pPr lvl="1">
              <a:lnSpc>
                <a:spcPct val="100000"/>
              </a:lnSpc>
            </a:pPr>
            <a:r>
              <a:rPr lang="en-US" sz="2100" b="1" dirty="0"/>
              <a:t>Higher customer care ratings are associated with better on-time delivery rates</a:t>
            </a:r>
            <a:r>
              <a:rPr lang="en-US" sz="2100" dirty="0"/>
              <a:t>, highlighting the importance of service quality.</a:t>
            </a:r>
            <a:endParaRPr lang="en-IN" sz="2100" dirty="0"/>
          </a:p>
          <a:p>
            <a:pPr lvl="1">
              <a:lnSpc>
                <a:spcPct val="100000"/>
              </a:lnSpc>
            </a:pPr>
            <a:endParaRPr lang="en-US" sz="2100" b="1" dirty="0" smtClean="0"/>
          </a:p>
        </p:txBody>
      </p:sp>
    </p:spTree>
    <p:extLst>
      <p:ext uri="{BB962C8B-B14F-4D97-AF65-F5344CB8AC3E}">
        <p14:creationId xmlns:p14="http://schemas.microsoft.com/office/powerpoint/2010/main" val="29442746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09066" y="355471"/>
            <a:ext cx="10834234" cy="612775"/>
          </a:xfrm>
        </p:spPr>
        <p:txBody>
          <a:bodyPr/>
          <a:lstStyle/>
          <a:p>
            <a:r>
              <a:rPr lang="en-US" dirty="0" smtClean="0"/>
              <a:t>Power BI Presentation</a:t>
            </a:r>
            <a:endParaRPr lang="en-IN" dirty="0"/>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435" t="-295" r="1110" b="2756"/>
          <a:stretch/>
        </p:blipFill>
        <p:spPr>
          <a:xfrm>
            <a:off x="927463" y="927462"/>
            <a:ext cx="9784080" cy="5146767"/>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32860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Deployment</a:t>
            </a:r>
            <a:endParaRPr lang="en-IN" sz="3200" dirty="0"/>
          </a:p>
        </p:txBody>
      </p:sp>
      <p:sp>
        <p:nvSpPr>
          <p:cNvPr id="3" name="Content Placeholder 2"/>
          <p:cNvSpPr>
            <a:spLocks noGrp="1"/>
          </p:cNvSpPr>
          <p:nvPr>
            <p:ph idx="1"/>
          </p:nvPr>
        </p:nvSpPr>
        <p:spPr>
          <a:xfrm>
            <a:off x="900952" y="1531384"/>
            <a:ext cx="10834234" cy="4398066"/>
          </a:xfrm>
        </p:spPr>
        <p:txBody>
          <a:bodyPr>
            <a:normAutofit/>
          </a:bodyPr>
          <a:lstStyle/>
          <a:p>
            <a:pPr marL="0" indent="0">
              <a:buNone/>
            </a:pPr>
            <a:r>
              <a:rPr lang="en-US" dirty="0" smtClean="0"/>
              <a:t>The </a:t>
            </a:r>
            <a:r>
              <a:rPr lang="en-US" dirty="0"/>
              <a:t>final Gradient Boosting model was deployed using a </a:t>
            </a:r>
            <a:r>
              <a:rPr lang="en-US" b="1" dirty="0" err="1"/>
              <a:t>Streamlit</a:t>
            </a:r>
            <a:r>
              <a:rPr lang="en-US" b="1" dirty="0"/>
              <a:t> web application</a:t>
            </a:r>
            <a:r>
              <a:rPr lang="en-US" dirty="0"/>
              <a:t> to enable real-time prediction of on-time delivery. The application allows users to input relevant product, shipment, and customer details and instantly receive delivery predictions. This deployment makes the model accessible for practical business use and supports operational decision-making</a:t>
            </a:r>
            <a:r>
              <a:rPr lang="en-US" dirty="0" smtClean="0"/>
              <a:t>.</a:t>
            </a:r>
          </a:p>
          <a:p>
            <a:pPr marL="0" indent="0">
              <a:buNone/>
            </a:pPr>
            <a:r>
              <a:rPr lang="en-US" b="1" dirty="0" smtClean="0"/>
              <a:t>Deployment Insights:</a:t>
            </a:r>
          </a:p>
          <a:p>
            <a:pPr marL="0" indent="0">
              <a:buNone/>
            </a:pPr>
            <a:r>
              <a:rPr lang="en-US" dirty="0" smtClean="0"/>
              <a:t>The </a:t>
            </a:r>
            <a:r>
              <a:rPr lang="en-US" dirty="0"/>
              <a:t>deployed model classifies deliveries into </a:t>
            </a:r>
            <a:r>
              <a:rPr lang="en-US" dirty="0" smtClean="0"/>
              <a:t>low delay risk </a:t>
            </a:r>
            <a:r>
              <a:rPr lang="en-US" dirty="0"/>
              <a:t>(≥45%), </a:t>
            </a:r>
            <a:r>
              <a:rPr lang="en-US" dirty="0" smtClean="0"/>
              <a:t>moderate delay risk (35%–44</a:t>
            </a:r>
            <a:r>
              <a:rPr lang="en-US" dirty="0"/>
              <a:t>%), and </a:t>
            </a:r>
            <a:r>
              <a:rPr lang="en-US" dirty="0" smtClean="0"/>
              <a:t>high delay risk(&lt;</a:t>
            </a:r>
            <a:r>
              <a:rPr lang="en-US" dirty="0"/>
              <a:t>35%) risk categories, enabling proactive monitoring and early intervention.</a:t>
            </a:r>
            <a:endParaRPr lang="en-IN" b="1" dirty="0"/>
          </a:p>
        </p:txBody>
      </p:sp>
    </p:spTree>
    <p:extLst>
      <p:ext uri="{BB962C8B-B14F-4D97-AF65-F5344CB8AC3E}">
        <p14:creationId xmlns:p14="http://schemas.microsoft.com/office/powerpoint/2010/main" val="26714230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				</a:t>
            </a:r>
            <a:r>
              <a:rPr lang="en-US" dirty="0" err="1" smtClean="0"/>
              <a:t>Streamlit</a:t>
            </a:r>
            <a:r>
              <a:rPr lang="en-US" dirty="0" smtClean="0"/>
              <a:t> – Web Page</a:t>
            </a:r>
            <a:endParaRPr lang="en-IN" dirty="0"/>
          </a:p>
        </p:txBody>
      </p:sp>
      <p:sp>
        <p:nvSpPr>
          <p:cNvPr id="6" name="Flowchart: Terminator 5"/>
          <p:cNvSpPr/>
          <p:nvPr/>
        </p:nvSpPr>
        <p:spPr>
          <a:xfrm>
            <a:off x="9640389" y="418011"/>
            <a:ext cx="1872729" cy="798430"/>
          </a:xfrm>
          <a:prstGeom prst="flowChartTerminator">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dirty="0" smtClean="0">
                <a:solidFill>
                  <a:schemeClr val="bg1"/>
                </a:solidFill>
                <a:hlinkClick r:id="rId2"/>
              </a:rPr>
              <a:t>Click</a:t>
            </a:r>
            <a:r>
              <a:rPr lang="en-US" dirty="0" smtClean="0">
                <a:hlinkClick r:id="rId2"/>
              </a:rPr>
              <a:t> here to visit app</a:t>
            </a:r>
            <a:endParaRPr lang="en-IN"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8884" y="1216442"/>
            <a:ext cx="10646613" cy="4857334"/>
          </a:xfrm>
        </p:spPr>
      </p:pic>
    </p:spTree>
    <p:extLst>
      <p:ext uri="{BB962C8B-B14F-4D97-AF65-F5344CB8AC3E}">
        <p14:creationId xmlns:p14="http://schemas.microsoft.com/office/powerpoint/2010/main" val="135427497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This project successfully predicted on-time delivery for e-commerce products using machine learning and data visualization. Multiple models </a:t>
            </a:r>
            <a:r>
              <a:rPr lang="en-US" dirty="0" smtClean="0"/>
              <a:t>is </a:t>
            </a:r>
            <a:r>
              <a:rPr lang="en-US" dirty="0"/>
              <a:t>evaluated, with </a:t>
            </a:r>
            <a:r>
              <a:rPr lang="en-US" b="1" dirty="0"/>
              <a:t>Gradient Boosting </a:t>
            </a:r>
            <a:r>
              <a:rPr lang="en-US" dirty="0"/>
              <a:t>achieving the best performance. The Power BI dashboard and </a:t>
            </a:r>
            <a:r>
              <a:rPr lang="en-US" b="1" dirty="0" err="1"/>
              <a:t>Streamlit</a:t>
            </a:r>
            <a:r>
              <a:rPr lang="en-US" dirty="0"/>
              <a:t> deployment transformed model outputs into actionable insights, enabling data-driven decisions to improve delivery efficiency, customer satisfaction, and operational performance.</a:t>
            </a:r>
            <a:endParaRPr lang="en-IN" dirty="0"/>
          </a:p>
        </p:txBody>
      </p:sp>
      <p:sp>
        <p:nvSpPr>
          <p:cNvPr id="3" name="Title 2"/>
          <p:cNvSpPr>
            <a:spLocks noGrp="1"/>
          </p:cNvSpPr>
          <p:nvPr>
            <p:ph type="title"/>
          </p:nvPr>
        </p:nvSpPr>
        <p:spPr/>
        <p:txBody>
          <a:bodyPr>
            <a:normAutofit/>
          </a:bodyPr>
          <a:lstStyle/>
          <a:p>
            <a:r>
              <a:rPr lang="en-US" sz="4000" dirty="0"/>
              <a:t> Conclusion </a:t>
            </a:r>
            <a:br>
              <a:rPr lang="en-US" sz="4000" dirty="0"/>
            </a:br>
            <a:endParaRPr lang="en-IN" sz="4000" dirty="0"/>
          </a:p>
        </p:txBody>
      </p:sp>
    </p:spTree>
    <p:extLst>
      <p:ext uri="{BB962C8B-B14F-4D97-AF65-F5344CB8AC3E}">
        <p14:creationId xmlns:p14="http://schemas.microsoft.com/office/powerpoint/2010/main" val="382278208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p:timing>
    <p:tnLst>
      <p:par>
        <p:cTn id="1" dur="indefinite" restart="never" nodeType="tmRoot"/>
      </p:par>
    </p:tnLst>
  </p:timing>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7704</TotalTime>
  <Words>906</Words>
  <Application>Microsoft Office PowerPoint</Application>
  <PresentationFormat>Widescreen</PresentationFormat>
  <Paragraphs>60</Paragraphs>
  <Slides>14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BIA Template</vt:lpstr>
      <vt:lpstr>PowerPoint Presentation</vt:lpstr>
      <vt:lpstr>Agenda</vt:lpstr>
      <vt:lpstr>Problem Statement  </vt:lpstr>
      <vt:lpstr>Dataset Overview</vt:lpstr>
      <vt:lpstr> Methodology</vt:lpstr>
      <vt:lpstr> Exploratory Data Analysis (EDA)</vt:lpstr>
      <vt:lpstr>Preprocessing  </vt:lpstr>
      <vt:lpstr>Predictive Model and Evaluation Metrics</vt:lpstr>
      <vt:lpstr> Dashboard Visualization </vt:lpstr>
      <vt:lpstr>Power BI Presentation</vt:lpstr>
      <vt:lpstr>Deployment</vt:lpstr>
      <vt:lpstr>    Streamlit – Web Page</vt:lpstr>
      <vt:lpstr> 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Dell</cp:lastModifiedBy>
  <cp:revision>2309</cp:revision>
  <dcterms:created xsi:type="dcterms:W3CDTF">2020-12-23T13:36:00Z</dcterms:created>
  <dcterms:modified xsi:type="dcterms:W3CDTF">2026-01-27T07:50:37Z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